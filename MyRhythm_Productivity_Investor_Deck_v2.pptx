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097280"/>
            <a:ext cx="548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109728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MyRhythm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brain is your operating system.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support layer.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Empowerment &amp; Productivity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886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Collaborative Cognitive Management (CCM)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206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Your Day. Own Your Rhythm. · Investor Presentation · 2026</a:t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PRODUCTIVITY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workers lose 2.1 hours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to cognitive friction.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2.1hrs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daily to interruptions, context-switching, and re-orientation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refocus after a single interruption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2468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035040" y="3063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professionals report forgetting commitments made in meetings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is not time. It is reliability.</a:t>
            </a:r>
            <a:endParaRPr lang="en-US" sz="170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commitments erode trust,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teams, and careers.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follow-ups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from Monday's meeting never happens. Nobody chases it. Momentum dies.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credibility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28346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Colleagues stop relying on you. Reputation erodes silently, meeting by meeting.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490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4904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erosion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Partners, clients, and teams lose confidence. Trust compounds — and so does its absence.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39496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stagnation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8346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decisions are trust decisions. Unreliable execution is invisible self-sabotage.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4088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collapses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memory failures erode self-trust. You stop committing because you've stopped believing you'll follow through.</a:t>
            </a:r>
            <a:endParaRPr 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intending and doing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 infrastructure.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2606040"/>
            <a:ext cx="457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2606040"/>
            <a:ext cx="457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tools for planning. Tools for communication. Tools for storage. But nothing exists between the moment you decide to do something and the moment you reliably do it.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universal problem disguised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individual failure.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Workers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1B+ globally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Context-switching, meeting overload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200M+ globally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function still developing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084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Adults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55M+ (US alone)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cognitive decline, forgetfulness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366M globally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Intention-action gap is defining symptom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306324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53M in 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overload from dual responsibilities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468880" cy="914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136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 &amp; TBI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80M+ annually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593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Clinical-grade cognitive support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functional problem. Many conditions. No existing solution.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tools assume the brain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trying to help.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2608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7589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/ Todoist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Organised, self-directed workers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you remember to check it. No re-engagement after interruption.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Reminders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notification use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ping, easily dismissed. No escalation, no accountability.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 / Cal.com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coordination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 the meeting, not the follow-through.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84048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Headspace / Calm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 &amp; relaxation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stress, doesn't improve execution reliability.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38912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on this list requires reliable cognition to use reliably.</a:t>
            </a:r>
            <a:endParaRPr lang="en-US" sz="13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not organisation.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cognitive continuity.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2606040"/>
            <a:ext cx="457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2606040"/>
            <a:ext cx="457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834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 not fail because they lack lists. They fail because interruptions break their thread of intention — and nothing exists to restore 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people feel reliable, confidence returns. When confidence returns, productivity follows. The lever is not efficiency — it is self-trust.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Cognitive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LEAP platform is powered by CCM — three pillars that bridge intention and reliable execution.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37744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Circles, caregiver dashboards, shared accountability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Rhythmic Intelligence, energy-aware scheduling, Memory Bridge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377440" cy="7772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chunking, smart scheduling, celebration streaks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2286000" cy="10058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Intention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You decide to act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Meetings, ideas, commitments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3611880"/>
            <a:ext cx="109728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3108960"/>
            <a:ext cx="2286000" cy="100584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MyRhythm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Cognitive continuity layer</a:t>
            </a:r>
            <a:endParaRPr lang="en-US" sz="15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Capture &gt; Commit &gt; Calibrate &gt; Celebrate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75120" y="3611880"/>
            <a:ext cx="10972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108960"/>
            <a:ext cx="2286000" cy="100584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Reliable Execution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Promises kept, trust built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Compounding confidence</a:t>
            </a:r>
            <a:endParaRPr lang="en-US" sz="1300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&gt; Commit &gt; Calibrate &gt; Celebrate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CCM engine that powers every LEAP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96596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Voice-record any conversation. AI extracts every commitment, promise, and next step.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196596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26080" y="2697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Review, confirm, and schedule extracted actions. Assign accountability. Make intention concrete.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196596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74920" y="2697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re-engagement when you drift. Gentle &gt; moderate &gt; urgent. Support Circle activated.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28346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86600" y="2011680"/>
            <a:ext cx="1965960" cy="23774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2697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completion logged. Streaks tracked. Confidence compounds. The system proves you can be relied upon.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Performance Loop Across the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intention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today's commitments. Confirm priorities. Brain knows what matters.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548640" cy="54864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Mid-day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Interruption hits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8346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runs over. Email derails focus. Context switches pile up.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8346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MyRhythm detects drift. Progressive nudge restores the thread.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548640" cy="54864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28346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marked done. Wins celebrated. Tomorrow's intentions seeded.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1554480"/>
            <a:ext cx="548640" cy="548640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becomes identity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28346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promises. Others notice. Confidence returns. Productivity follows naturally.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4206240"/>
            <a:ext cx="4572000" cy="3200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&gt; Interruption &gt; Re-engagement &gt; Completion &gt; Confidence</a:t>
            </a:r>
            <a:endParaRPr lang="en-US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in the hardest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environments.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0" y="2286000"/>
            <a:ext cx="4572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2286000"/>
            <a:ext cx="457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MyRhythm to work for ABI &amp; TBI survivors — people whose cognition fluctuates hourly, whose memory fails under load, who lose the thread after every interruption.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lived experience. If it works there, it works everywhere.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escalation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brains that dismiss single pings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people who need human backup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action extraction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minds that can't hold meeting details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clinical recovery to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performance.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where the volume is massive and deepen where the need is clinical.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486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2560320"/>
            <a:ext cx="54864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1005840"/>
            <a:ext cx="4572000" cy="3108960"/>
          </a:xfrm>
          <a:prstGeom prst="ellipse">
            <a:avLst/>
          </a:prstGeom>
          <a:solidFill>
            <a:srgbClr val="F0F9FF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1463040"/>
            <a:ext cx="3291840" cy="2194560"/>
          </a:xfrm>
          <a:prstGeom prst="ellipse">
            <a:avLst/>
          </a:prstGeom>
          <a:solidFill>
            <a:srgbClr val="FFF7ED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828800"/>
            <a:ext cx="2194560" cy="1463040"/>
          </a:xfrm>
          <a:prstGeom prst="ellipse">
            <a:avLst/>
          </a:prstGeom>
          <a:solidFill>
            <a:srgbClr val="FAF5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240280"/>
            <a:ext cx="91440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ABI/TBI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0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Cognitive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1208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Workers</a:t>
            </a:r>
            <a:endParaRPr 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Combined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$22B productivity + wellness TAM — with clinical ABI + TBI as our high-conviction beachhead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 (Non-Traumatic)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12080" y="1691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TBI (Traumatic)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39112"/>
            <a:ext cx="7589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12.2M strokes + 2M+ other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2103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69M globally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Populations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Stroke survivors, post-surgery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Falls, accidents, sport, military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8892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758952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926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 Clinical Beachhead within $22B TAM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474720"/>
            <a:ext cx="36576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SAM</a:t>
            </a:r>
            <a:endParaRPr lang="en-US" sz="9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$4.2B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English-speaking knowledge workers + ABI/TBI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365760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5204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</a:rPr>
              <a:t>SOM</a:t>
            </a:r>
            <a:endParaRPr lang="en-US" sz="9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$35M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UK + US direct-to-consumer Year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Grand View Research 2023, Precedence Research, WSO 2022, Lancet Neurology 2019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Adoption Channels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828800"/>
            <a:ext cx="640080" cy="64008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accountability loops. One user brings the tool — the team adopts 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8288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commitments flow into the same system. One tool for all of life.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3192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Circles connect partners, parents, children.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prescribe for post-surgery, ABI, TBI, and cognitive rehab.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9560" y="1828800"/>
            <a:ext cx="640080" cy="64008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2606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data enables reimbursement pathways. Institutional adoption.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&gt; Home &gt; Family &gt; Clinical &gt; Insurer. Each stage unlocks the next.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People Use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complete more of what they commit to. The closed loop creates follow-through.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182880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8036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After Interruption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6974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re-engagement pulls users back to their thread — instead of losing the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6974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wins compound into self-trust. Users report feeling more capable over time.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828800"/>
            <a:ext cx="192024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8660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26974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reliability builds and confidence returns, users report sustained productivity gains — through trusting themselves to follow through.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7280" y="4389120"/>
            <a:ext cx="2286000" cy="3200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MVP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4389120"/>
            <a:ext cx="2286000" cy="3200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Lived-experience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4389120"/>
            <a:ext cx="2286000" cy="32004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conversations active</a:t>
            </a:r>
            <a:endParaRPr lang="en-US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LEAP Platform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£500K by December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MAKE MONEY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8404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Subscription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£10–15/month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cognitive performance.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8404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Team Licensing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£8/user/month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accountability and cognitive continuity.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384048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200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Licensing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£50/patient/month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29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Post-discharge cognitive support.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MAKES MONEY FOR INVESTORS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£500K revenue by Dec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2212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the model works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514600"/>
            <a:ext cx="3840480" cy="4114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gross margins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7157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85p profit for every £1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017520"/>
            <a:ext cx="3840480" cy="4114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 LTV:CAC ratio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3218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 spent returns £9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520440"/>
            <a:ext cx="3840480" cy="4114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520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subscriptions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7216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predictable 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023360"/>
            <a:ext cx="3840480" cy="4114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4023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exit paths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2245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or growth</a:t>
            </a:r>
            <a:endParaRPr lang="en-US" sz="900" dirty="0"/>
          </a:p>
        </p:txBody>
      </p:sp>
      <p:sp>
        <p:nvSpPr>
          <p:cNvPr id="34" name="TextBox 33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Productivity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tools assume functioning cognition. They work when you're at your best. They fail exactly when you need them most.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51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Therapy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194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 is episodic. Once a week, one hour. The other 167 hours have no support layer. Life happens in the gaps between sessions.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51760" cy="201168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LEAP + CCM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Always-on. Collaborative. Adapts to cognitive state. Escalates when needed. Celebrates when earned. Life empowerment, not just productivity.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Clinical-grade reliability · Lived-experience foundation · Network effects via Support Circle · Behavioural data moat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raising </a:t>
            </a:r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£250,000</a:t>
            </a:r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pre-seed funding.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£250K Buys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product to clinical-grade 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47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first 1,000 paying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037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£37.5K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2037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clinical pilots that prove outcomes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597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4597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key team members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7157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£12.5K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7157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 for unexpected costs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Investment Journey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691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1–3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launched, founding members onboarded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pilots producing outcome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7–9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2402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2,500+ subscribers, B2B revenue starting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10–12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£500K revenue run rate — Series A 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7680960" cy="10058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as an Investor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in MyRhythm — you own a percentage of the company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639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entry — before clinical validation increases the valuation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429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10–20x typical return — pre-seed health-tech investors see significant multiples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6393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£250K today could be worth substantially more at Series 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Your Day. Own Your Rhythm.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investors@myrhythm.com · myrhythm.app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617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MyRhythm is a life empowerment and productivity app. It is not a medical device.</a:t>
            </a:r>
            <a:endParaRPr lang="en-US" sz="900" dirty="0"/>
          </a:p>
        </p:txBody>
      </p:sp>
      <p:sp>
        <p:nvSpPr>
          <p:cNvPr id="33" name="TextBox 32"/>
          <p:cNvSpPr txBox="1"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i="1">
                <a:solidFill>
                  <a:srgbClr val="888888"/>
                </a:solidFill>
              </a:defRPr>
            </a:pPr>
            <a:r>
              <a:t>Confidential – Not for Distribution  |  © 2026 Annabel Aaron.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MyRhythm Productivity Investor Deck 2026</dc:title>
  <dc:subject>PptxGenJS Presentation</dc:subject>
  <dc:creator>MyRhythm</dc:creator>
  <cp:lastModifiedBy>MyRhythm</cp:lastModifiedBy>
  <cp:revision>1</cp:revision>
  <dcterms:created xsi:type="dcterms:W3CDTF">2026-03-24T17:48:10Z</dcterms:created>
  <dcterms:modified xsi:type="dcterms:W3CDTF">2026-03-24T17:48:10Z</dcterms:modified>
</cp:coreProperties>
</file>