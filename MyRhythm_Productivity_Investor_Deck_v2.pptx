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109728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0" y="109728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0" y="1280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brain is your operating system.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support layer.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3383280"/>
            <a:ext cx="4572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Empowerment &amp; Productivity Platform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3886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Collaborative Cognitive Management (CCM)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4206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 · Investor Presentation · 2026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 lose 2.1 hours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 to cognitive friction.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2.1hrs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daily to interruptions, context-switching, and re-orientation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472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min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7472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time to refocus after a single interruption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03504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professionals report forgetting commitments made in meetings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is not time. It is reliability.</a:t>
            </a:r>
            <a:endParaRPr lang="en-US" sz="170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commitments erode trust,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teams, and careers.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follow-ups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from Monday's meeting never happens. Nobody chases it. Momentum dies.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10312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credibility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Colleagues stop relying on you. Reputation erodes silently, meeting by meeting.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74904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erosion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Partners, clients, and teams lose confidence. Trust compounds — and so does its absence.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9496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39496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stagnation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decisions are trust decisions. Unreliable execution is invisible self-sabotage.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04088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4088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collapses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memory failures erode self-trust. You stop committing because you've stopped believing you'll follow through.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HAPPENS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between intending and doing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no infrastructure.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83464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tools for planning. Tools for communication. Tools for storage. But nothing exists between the moment you decide to do something and the moment you reliably do it.</a:t>
            </a: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universal problem disguised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individual failure.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1B+ globally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Context-switching, meeting overload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200M+ globally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044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function still developing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Adults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55M+ (US alone)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 decline, forgetfulness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366M globally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Intention-action gap is defining symptom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52044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53M in 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2044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overload from dual responsibilities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7220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&amp; TBI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7220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80M+ annually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cognitive support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functional problem. Many conditions. No existing solution.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TOOLS FAIL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the brain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trying to help.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48840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/ Todoist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Organised, self-directed workers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you remember to check it. No re-engagement after interruption.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74320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Reminders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notification use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0" y="2788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ping, easily dismissed. No escalation, no accountability.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29184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Calendly / Cal.com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2608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coordination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the meeting, not the follow-through.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8404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3886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 / Calm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Meditation &amp; relaxation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0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stress, doesn't improve execution reliability.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3891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4480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on this list requires reliable cognition to use reliably.</a:t>
            </a:r>
            <a:endParaRPr lang="en-US" sz="1300" dirty="0"/>
          </a:p>
        </p:txBody>
      </p:sp>
      <p:sp>
        <p:nvSpPr>
          <p:cNvPr id="25" name="TextBox 24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organisation.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cognitive continuity.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8346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do not fail because they lack lists. They fail because interruptions break their thread of intention — and nothing exists to restore 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5204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people feel reliable, confidence returns. When confidence returns, productivity follows. The lever is not efficiency — it is self-trust.</a:t>
            </a:r>
            <a:endParaRPr lang="en-US" sz="1500" dirty="0"/>
          </a:p>
        </p:txBody>
      </p:sp>
      <p:sp>
        <p:nvSpPr>
          <p:cNvPr id="8" name="TextBox 7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Cognitive Management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LEAP platform is powered by CCM — three pillars that bridge intention and reliable execution.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Circles, caregiver dashboards, shared accountability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118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1188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Rhythmic Intelligence, energy-aware scheduling, Memory Bridge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chunking, smart scheduling, celebration streaks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</a:rPr>
              <a:t>Intention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You decide to 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Meetings, ideas, commitments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08960" y="3611880"/>
            <a:ext cx="109728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MyRhythm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Cognitive continuity layer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Capture &gt; Commit &gt; Calibrate &gt; Celebrate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75120" y="3611880"/>
            <a:ext cx="10972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Reliable Execution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Promises kept, trust built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Compounding confidence</a:t>
            </a:r>
            <a:endParaRPr lang="en-US" sz="1300" dirty="0"/>
          </a:p>
        </p:txBody>
      </p:sp>
      <p:sp>
        <p:nvSpPr>
          <p:cNvPr id="22" name="TextBox 21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&gt; Commit &gt; Calibrate &gt; Celebrate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CCM engine that powers every LEAP experience.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Voice-record any conversation. AI extracts every commitment, promise, and next step.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8892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Review, confirm, and schedule extracted actions. Assign accountability. Make intention concrete.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776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93776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7492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when you drift. Gentle &gt; moderate &gt; urgent. Support Circle activated.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0372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8660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8660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2376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completion logged. Streaks tracked. Confidence compounds. The system proves you can be relied upon.</a:t>
            </a:r>
            <a:endParaRPr lang="en-US" sz="11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7772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Performance Loop Across the 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intention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today's commitments. Confirm priorities. Brain knows what matters.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432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Mid-day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Interruption hits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runs over. Email derails focus. Context switches pile up.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548640" cy="5486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805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3192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Afternoon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3192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detects drift. Progressive nudge restores the thread.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marked done. Wins celebrated. Tomorrow's intentions seeded.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5528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552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0664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becomes identity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0664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promises. Others notice. Confidence returns. Productivity follows naturally.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 &gt; Interruption &gt; Re-engagement &gt; Completion &gt; Confidence</a:t>
            </a:r>
            <a:endParaRPr lang="en-US" sz="1100" dirty="0"/>
          </a:p>
        </p:txBody>
      </p:sp>
      <p:sp>
        <p:nvSpPr>
          <p:cNvPr id="31" name="TextBox 30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in the hardest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environments.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28600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28600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MyRhythm to work for ABI &amp; TBI survivors — people whose cognition fluctuates hourly, whose memory fails under load, who lose the thread after every interruption.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lived experience. If it works there, it works everywhere.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escalation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brains that dismiss single pings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people who need human backup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action extraction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minds that can't hold meeting details</a:t>
            </a:r>
            <a:endParaRPr lang="en-US" sz="100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clinical recovery to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performance.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where the volume is massive and deepen where the need is clinical.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80160" y="256032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1005840"/>
            <a:ext cx="4572000" cy="3108960"/>
          </a:xfrm>
          <a:prstGeom prst="ellipse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12080" y="1463040"/>
            <a:ext cx="3291840" cy="2194560"/>
          </a:xfrm>
          <a:prstGeom prst="ellipse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760720" y="1828800"/>
            <a:ext cx="2194560" cy="1463040"/>
          </a:xfrm>
          <a:prstGeom prst="ellipse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2240280"/>
            <a:ext cx="914400" cy="640080"/>
          </a:xfrm>
          <a:prstGeom prst="ellipse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ABI/TBI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760720" y="3017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212080" y="3474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Combined Opportunity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$22B productivity + wellness TAM — with clinical ABI + TBI as our high-conviction beachhead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8600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(Non-Traumatic)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1208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TBI (Traumatic)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039112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Cases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12.2M strokes + 2M+ other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69M globally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42316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2468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Populations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survivors, post-surgery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Falls, accidents, sport, military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2834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Segment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$2.4B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1546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286000" y="29260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$4.2B Clinical Beachhead within $22B TAM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SAM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$4.2B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English-speaking knowledge workers + ABI/TBI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0060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SOM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$35M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UK + US direct-to-consumer Year 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4480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Grand View Research 2023, Precedence Research, WSO 2022, Lancet Neurology 2019</a:t>
            </a:r>
            <a:endParaRPr 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Adoption Channels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0284C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loops. One user brings the tool — the team adopts it.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182880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974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commitments flow into the same system. One tool for all of life.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 connect partners, parents, children.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66928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 prescribe for post-surgery, ABI, TBI, and cognitive rehab.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095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0664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0664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data enables reimbursement pathways. Institutional adoption.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 &gt; Home &gt; Family &gt; Clinical &gt; Insurer. Each stage unlocks the next.</a:t>
            </a:r>
            <a:endParaRPr lang="en-US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People Use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complete more of what they commit to. The closed loop creates follow-through.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8036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 After Interruption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pulls users back to their thread — instead of losing the day.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8348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wins compound into self-trust. Users report feeling more capable over time.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49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8660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reliability builds and confidence returns, users report sustained productivity gains — through trusting themselves to follow through.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MVP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validation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conversations active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LEAP Platform Revenue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£500K by December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MAKE MONEY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Subscription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20116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£10–15/month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cognitive performance.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Team Licensing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060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£8/user/month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and cognitive continuity.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Licensing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2004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£50/patient/month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429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Post-discharge cognitive support.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645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MAKES MONEY FOR INVESTORS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01168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83480" y="20116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by Dec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2128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 the model works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251460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83480" y="2514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gross margins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715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85p profit for every £1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301752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83480" y="30175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 LTV:CAC ratio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321868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 spent returns £9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46320" y="352044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983480" y="35204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subscriptions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7216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predictable revenue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46320" y="402336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3480" y="40233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exit paths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22452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or growth</a:t>
            </a:r>
            <a:endParaRPr lang="en-US" sz="900" dirty="0"/>
          </a:p>
        </p:txBody>
      </p:sp>
      <p:sp>
        <p:nvSpPr>
          <p:cNvPr id="34" name="TextBox 33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ADVANTAGE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Productivity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functioning cognition. They work when you're at your best. They fail exactly when you need them most.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Therapy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 is episodic. Once a week, one hour. The other 167 hours have no support layer. Life happens in the gaps between sessions.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 + CCM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Always-on. Collaborative. Adapts to cognitive state. Escalates when needed. Celebrates when earned. Life empowerment, not just productivity.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02336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reliability · Lived-experience foundation · Network effects via Support Circle · Behavioural data moat</a:t>
            </a:r>
            <a:endParaRPr lang="en-US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raising </a:t>
            </a:r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£250,000</a:t>
            </a:r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pre-seed funding.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£250K Buys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£100K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product to clinical-grade standard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£75K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54480" y="19476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first 1,000 paying users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£37.5K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0370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clinical pilots that prove outcomes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459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45973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key team members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7157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£12.5K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715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 for unexpected costs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Investment Journey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1–3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91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launched, founding members onboarded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1965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4–6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1965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pilots producing outcome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7–9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240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2,500+ subscribers, B2B revenue starting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10–12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35040" y="2514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run rate — Series A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108960"/>
            <a:ext cx="7680960" cy="10058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3154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 as an Investor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3429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in MyRhythm — you own a percentage of the company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6393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Early-stage entry — before clinical validation increases the valuation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4290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10–20x typical return — pre-seed health-tech investors see significant multiples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6393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£250K today could be worth substantially more at Series 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investors@myrhythm.com · myrhythm.app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4617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is a life empowerment and productivity app. It is not a medical device.</a:t>
            </a:r>
            <a:endParaRPr lang="en-US" sz="900" dirty="0"/>
          </a:p>
        </p:txBody>
      </p:sp>
      <p:sp>
        <p:nvSpPr>
          <p:cNvPr id="33" name="TextBox 32"/>
          <p:cNvSpPr txBox="1"/>
          <p:nvPr/>
        </p:nvSpPr>
        <p:spPr>
          <a:xfrm>
            <a:off x="457200" y="48691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MyRhythm Productivity Investor Deck 2026</dc:title>
  <dc:subject>PptxGenJS Presentation</dc:subject>
  <dc:creator>MyRhythm</dc:creator>
  <cp:lastModifiedBy>MyRhythm</cp:lastModifiedBy>
  <cp:revision>1</cp:revision>
  <dcterms:created xsi:type="dcterms:W3CDTF">2026-03-24T17:48:10Z</dcterms:created>
  <dcterms:modified xsi:type="dcterms:W3CDTF">2026-03-24T17:48:10Z</dcterms:modified>
</cp:coreProperties>
</file>